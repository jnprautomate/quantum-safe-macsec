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</a:rPr>
              <a:t>Quantum-Safe MACsec on Junos EVO with embedded PhioTX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C8D8E8"/>
                </a:solidFill>
              </a:rPr>
              <a:t>Docker KME inside each router  •  ETSI GS QKD 014  •  fully orchestrated from one Linux host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143000"/>
            <a:ext cx="6309360" cy="1417320"/>
          </a:xfrm>
          <a:prstGeom prst="rect">
            <a:avLst/>
          </a:prstGeom>
          <a:solidFill>
            <a:srgbClr val="F2F4F7"/>
          </a:solidFill>
          <a:ln w="1905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161288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B2A4A"/>
                </a:solidFill>
              </a:rPr>
              <a:t>Linux server 10.38.98.181 — orchestrator + external CA  |  hybrid: qkd_net (ipvlan 10.38.96.0/19)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600200"/>
            <a:ext cx="1737360" cy="7772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KME phiotx01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10.38.112.21:8443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600200"/>
            <a:ext cx="1737360" cy="7772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PostgreSQL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10.38.112.20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600200"/>
            <a:ext cx="1737360" cy="7772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KME phiotx02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10.38.112.22:8443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92040" y="1984248"/>
            <a:ext cx="320040" cy="0"/>
          </a:xfrm>
          <a:prstGeom prst="line">
            <a:avLst/>
          </a:prstGeom>
          <a:ln w="25400">
            <a:solidFill>
              <a:srgbClr val="6A4C93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49440" y="1984248"/>
            <a:ext cx="320040" cy="0"/>
          </a:xfrm>
          <a:prstGeom prst="line">
            <a:avLst/>
          </a:prstGeom>
          <a:ln w="25400">
            <a:solidFill>
              <a:srgbClr val="6A4C93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65760" y="2971800"/>
            <a:ext cx="3931920" cy="2743200"/>
          </a:xfrm>
          <a:prstGeom prst="rect">
            <a:avLst/>
          </a:prstGeom>
          <a:solidFill>
            <a:srgbClr val="E6EEF5"/>
          </a:solidFill>
          <a:ln w="1905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92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A4A"/>
                </a:solidFill>
              </a:rPr>
              <a:t>EVO1  10.38.97.218  (Junos EVO)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3291840" cy="868680"/>
          </a:xfrm>
          <a:prstGeom prst="round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Docker phiotx01 (PhioTX 4.6.3)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OOB 10.38.112.10  •  internal 9.1.1.10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526280"/>
            <a:ext cx="3291840" cy="5029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SAE1 sae-001 — on-box runtime (ETSI client)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331720" y="4251960"/>
            <a:ext cx="0" cy="274320"/>
          </a:xfrm>
          <a:prstGeom prst="line">
            <a:avLst/>
          </a:prstGeom>
          <a:ln w="25400">
            <a:solidFill>
              <a:srgbClr val="008C95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77440" y="42611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008C95"/>
                </a:solidFill>
              </a:rPr>
              <a:t>ETSI 014 mTLS :443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166360"/>
            <a:ext cx="3291840" cy="4114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FFFFFF"/>
                </a:solidFill>
              </a:rPr>
              <a:t>keychain QKD_CA_EVO1_EVO2  •  et-0/0/1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971800"/>
            <a:ext cx="3931920" cy="2743200"/>
          </a:xfrm>
          <a:prstGeom prst="rect">
            <a:avLst/>
          </a:prstGeom>
          <a:solidFill>
            <a:srgbClr val="E6EEF5"/>
          </a:solidFill>
          <a:ln w="1905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9992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0B2A4A"/>
                </a:solidFill>
              </a:rPr>
              <a:t>EVO2  10.38.97.228  (Junos EVO)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383280"/>
            <a:ext cx="3291840" cy="868680"/>
          </a:xfrm>
          <a:prstGeom prst="round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Docker phiotx02 (PhioTX 4.6.3)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OOB 10.38.112.11  •  internal 9.1.1.11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4526280"/>
            <a:ext cx="3291840" cy="5029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SAE2 sae-002 — on-box runtime (ETSI client)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9829800" y="4251960"/>
            <a:ext cx="0" cy="274320"/>
          </a:xfrm>
          <a:prstGeom prst="line">
            <a:avLst/>
          </a:prstGeom>
          <a:ln w="25400">
            <a:solidFill>
              <a:srgbClr val="008C95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75520" y="42611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008C95"/>
                </a:solidFill>
              </a:rPr>
              <a:t>ETSI 014 mTLS :443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5166360"/>
            <a:ext cx="3291840" cy="4114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FFFFFF"/>
                </a:solidFill>
              </a:rPr>
              <a:t>keychain QKD_CA_EVO1_EVO2  •  et-0/0/1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77639" y="3749039"/>
            <a:ext cx="4206240" cy="0"/>
          </a:xfrm>
          <a:prstGeom prst="line">
            <a:avLst/>
          </a:prstGeom>
          <a:ln w="31750">
            <a:solidFill>
              <a:srgbClr val="008C95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97680" y="3429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8C95"/>
                </a:solidFill>
              </a:rPr>
              <a:t>Hive :9002  •  ML-KEM-1024 protected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77639" y="5376672"/>
            <a:ext cx="4206240" cy="0"/>
          </a:xfrm>
          <a:prstGeom prst="line">
            <a:avLst/>
          </a:prstGeom>
          <a:ln w="50800">
            <a:solidFill>
              <a:srgbClr val="2E8B57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97680" y="50474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2E8B57"/>
                </a:solidFill>
              </a:rPr>
              <a:t>MACsec (same CAK, MKA Secured)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566160" y="2377440"/>
            <a:ext cx="457200" cy="1005840"/>
          </a:xfrm>
          <a:prstGeom prst="line">
            <a:avLst/>
          </a:prstGeom>
          <a:ln w="25400">
            <a:solidFill>
              <a:srgbClr val="6A4C93"/>
            </a:solidFill>
            <a:prstDash val="dash"/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8160" y="2377440"/>
            <a:ext cx="457200" cy="1005840"/>
          </a:xfrm>
          <a:prstGeom prst="line">
            <a:avLst/>
          </a:prstGeom>
          <a:ln w="25400">
            <a:solidFill>
              <a:srgbClr val="6A4C93"/>
            </a:solidFill>
            <a:prstDash val="dash"/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06240" y="2606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6A4C93"/>
                </a:solidFill>
              </a:rPr>
              <a:t>hybrid only: key-fetch over ETSI 014 + mTLS (hierarchical_ca)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806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</a:rPr>
              <a:t>• SAE1 enc_keys → key + key_ID  ▸  SAE2 dec_keys(key_ID) → same key  ▸  both routers install it as CAK; rolling 4-slot keyring, SSH identity rotation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</a:rPr>
              <a:t>• One orchestrator (qkd_docker_orchestrator.py): create • bootstrap • phiotx-up • deploy • clean  —  licences = fleet limit, external CA PKI, idempotent re-runs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</a:rPr>
              <a:t>Three application-key modes, one knob: --keygen-mode bulk | pqc |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C8D8E8"/>
                </a:solidFill>
              </a:rPr>
              <a:t>Selected at create / bootstrap / phiotx-up / deploy  •  precedence: CLI &gt; inventory &gt; saved mode &gt; bulk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3611880" cy="6858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bulk</a:t>
            </a:r>
          </a:p>
          <a:p>
            <a:pPr algn="ctr"/>
            <a:r>
              <a:rPr sz="1600" b="0">
                <a:solidFill>
                  <a:srgbClr val="FFFFFF"/>
                </a:solidFill>
              </a:rPr>
              <a:t>bulk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74519"/>
            <a:ext cx="3611880" cy="2834640"/>
          </a:xfrm>
          <a:prstGeom prst="rect">
            <a:avLst/>
          </a:prstGeom>
          <a:solidFill>
            <a:srgbClr val="F2F4F7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DRBG (random generator) in phiotx01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Key copied to phiotx02 over Hive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No external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520440"/>
            <a:ext cx="3154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2E8B57"/>
                </a:solidFill>
              </a:rPr>
              <a:t>DRBG ──► key K ──► CAK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069080"/>
            <a:ext cx="3154680" cy="5486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FFFFFF"/>
                </a:solidFill>
              </a:rPr>
              <a:t>Validated live: rings, MKA, rotations, 0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3611880" cy="68580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PQC-only</a:t>
            </a:r>
          </a:p>
          <a:p>
            <a:pPr algn="ctr"/>
            <a:r>
              <a:rPr sz="1600" b="0">
                <a:solidFill>
                  <a:srgbClr val="FFFFFF"/>
                </a:solidFill>
              </a:rPr>
              <a:t>pqc(ML-KEM-1024)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874519"/>
            <a:ext cx="3611880" cy="2834640"/>
          </a:xfrm>
          <a:prstGeom prst="rect">
            <a:avLst/>
          </a:prstGeom>
          <a:solidFill>
            <a:srgbClr val="F2F4F7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65960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ML-KEM-1024 keypairs + public-key exchange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KEM shared secret S on both nodes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SSKDF(S) → key K; no external components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520440"/>
            <a:ext cx="3154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E07A1F"/>
                </a:solidFill>
              </a:rPr>
              <a:t>ML-KEM S ──► SSKDF ──► CAK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069080"/>
            <a:ext cx="3154680" cy="548640"/>
          </a:xfrm>
          <a:prstGeom prst="round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FFFFFF"/>
                </a:solidFill>
              </a:rPr>
              <a:t>Validated live: clean + greenfield bootstrap, 0 errors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611880" cy="68580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hybrid</a:t>
            </a:r>
          </a:p>
          <a:p>
            <a:pPr algn="ctr"/>
            <a:r>
              <a:rPr sz="1600" b="0">
                <a:solidFill>
                  <a:srgbClr val="FFFFFF"/>
                </a:solidFill>
              </a:rPr>
              <a:t>hybrid(ML-KEM-1024)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3611880" cy="2834640"/>
          </a:xfrm>
          <a:prstGeom prst="rect">
            <a:avLst/>
          </a:prstGeom>
          <a:solidFill>
            <a:srgbClr val="F2F4F7"/>
          </a:solidFill>
          <a:ln w="1905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965960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PQC secret S + QKD material Q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Q from 2 ETSI 014 KMEs + 1 PostgreSQL on Linux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Static IPs .20/.21/.22, hierarchical_ca mTLS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520440"/>
            <a:ext cx="31546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6A4C93"/>
                </a:solidFill>
              </a:rPr>
              <a:t>S + Q ──► KDF ──► CAK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4069080"/>
            <a:ext cx="3154680" cy="5486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FFFFFF"/>
                </a:solidFill>
              </a:rPr>
              <a:t>Validated live from full clean: hybrid(ML-KEM-1024) + simulated QKD, MKA secured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892040"/>
            <a:ext cx="11475720" cy="41148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FFFFFF"/>
                </a:solidFill>
              </a:rPr>
              <a:t>In every mode the Hive channel between PhioTX containers stays ML-KEM-1024 protected — that is transport protection, not the key-generation mode.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9496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</a:rPr>
              <a:t>• Hybrid needs no extra PhioTX licences: the KMEs are open ETSI reference simulators (simulated QKD = software random keys, not physical QKD).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</a:rPr>
              <a:t>• Safety: IP preflight (containers, inventory, ARP), label-scoped clean, qkd_net never created/removed, secrets 0600, no key material printed.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</a:rPr>
              <a:t>• Next: long-run hybrid soak, failure injection (KME/PostgreSQL outage, Q-pool exhaustion), real QKD KMEs replacing the simulator.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